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5200" b="1">
                <a:solidFill>
                  <a:srgbClr val="0A2540"/>
                </a:solidFill>
                <a:latin typeface="Segoe UI"/>
              </a:defRPr>
            </a:pPr>
            <a:r>
              <a:t>JARVIS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9748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>
                <a:solidFill>
                  <a:srgbClr val="334155"/>
                </a:solidFill>
                <a:latin typeface="Segoe UI"/>
              </a:defRPr>
            </a:pPr>
            <a:r>
              <a:t>Windows desktop agent: local Python backend, React/Electron UI,</a:t>
            </a:r>
            <a:br/>
            <a:r>
              <a:t>optional cloud or local LLMs, tools, and persistent memory.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114800"/>
            <a:ext cx="100584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64748B"/>
                </a:solidFill>
                <a:latin typeface="Segoe UI"/>
              </a:defRPr>
            </a:pPr>
            <a:r>
              <a:t>Navneet Nanda (CH.SC.U4CYS24039)</a:t>
            </a:r>
            <a:br/>
            <a:r>
              <a:t>Roshan Srikanth (CH.SC.U4CYS24057)</a:t>
            </a:r>
            <a:br/>
            <a:r>
              <a:t>Jyothir Adithya V B (CH.SC.U4CYS24022)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91440"/>
            <a:ext cx="113385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0A2540"/>
                </a:solidFill>
                <a:latin typeface="Segoe UI"/>
              </a:defRPr>
            </a:pPr>
            <a:r>
              <a:t>System Architecture — Electron / React above a single FastAPI process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457200"/>
            <a:ext cx="11338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Containment: jarvis/ lives inside the backend, not as a separate service</a:t>
            </a:r>
          </a:p>
        </p:txBody>
      </p:sp>
      <p:pic>
        <p:nvPicPr>
          <p:cNvPr id="4" name="Picture 3" descr="slid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5985" y="950976"/>
            <a:ext cx="6460948" cy="360273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47472" y="4663440"/>
            <a:ext cx="11475720" cy="2048256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84632" y="4754879"/>
            <a:ext cx="5532120" cy="1911096"/>
          </a:xfrm>
          <a:prstGeom prst="rect">
            <a:avLst/>
          </a:prstGeom>
          <a:noFill/>
        </p:spPr>
        <p:txBody>
          <a:bodyPr wrap="square" lIns="101600" rIns="101600" tIns="50800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  <a:defRPr sz="1500" b="1">
                <a:solidFill>
                  <a:srgbClr val="0A2540"/>
                </a:solidFill>
                <a:latin typeface="Segoe UI Semibold"/>
              </a:defRPr>
            </a:pPr>
            <a:r>
              <a:t>More modules inside jarvis/ (not shown above)</a:t>
            </a:r>
          </a:p>
          <a:p>
            <a:pPr>
              <a:spcBef>
                <a:spcPts val="500"/>
              </a:spcBef>
              <a:spcAft>
                <a:spcPts val="200"/>
              </a:spcAft>
              <a:defRPr sz="1400">
                <a:solidFill>
                  <a:srgbClr val="334155"/>
                </a:solidFill>
                <a:latin typeface="Segoe UI"/>
              </a:defRPr>
            </a:pPr>
            <a:r>
              <a:t>•  DialogueStore — saves recent chat turns for short-term context</a:t>
            </a:r>
          </a:p>
          <a:p>
            <a:pPr>
              <a:spcBef>
                <a:spcPts val="500"/>
              </a:spcBef>
              <a:spcAft>
                <a:spcPts val="200"/>
              </a:spcAft>
              <a:defRPr sz="1400">
                <a:solidFill>
                  <a:srgbClr val="334155"/>
                </a:solidFill>
                <a:latin typeface="Segoe UI"/>
              </a:defRPr>
            </a:pPr>
            <a:r>
              <a:t>•  Voice — microphone input and TTS output in the same loop</a:t>
            </a:r>
          </a:p>
          <a:p>
            <a:pPr>
              <a:spcBef>
                <a:spcPts val="500"/>
              </a:spcBef>
              <a:spcAft>
                <a:spcPts val="200"/>
              </a:spcAft>
              <a:defRPr sz="1400">
                <a:solidFill>
                  <a:srgbClr val="334155"/>
                </a:solidFill>
                <a:latin typeface="Segoe UI"/>
              </a:defRPr>
            </a:pPr>
            <a:r>
              <a:t>•  Device — reads battery, heat, and RAM so Governor can save power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53912" y="4754879"/>
            <a:ext cx="5532120" cy="1911096"/>
          </a:xfrm>
          <a:prstGeom prst="rect">
            <a:avLst/>
          </a:prstGeom>
          <a:noFill/>
        </p:spPr>
        <p:txBody>
          <a:bodyPr wrap="square" lIns="101600" rIns="101600" tIns="50800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  <a:defRPr sz="1500" b="1">
                <a:solidFill>
                  <a:srgbClr val="0A2540"/>
                </a:solidFill>
                <a:latin typeface="Segoe UI Semibold"/>
              </a:defRPr>
            </a:pPr>
            <a:r>
              <a:t>What connects to the backend</a:t>
            </a:r>
          </a:p>
          <a:p>
            <a:pPr>
              <a:spcBef>
                <a:spcPts val="500"/>
              </a:spcBef>
              <a:spcAft>
                <a:spcPts val="200"/>
              </a:spcAft>
              <a:defRPr sz="1400">
                <a:solidFill>
                  <a:srgbClr val="334155"/>
                </a:solidFill>
                <a:latin typeface="Segoe UI"/>
              </a:defRPr>
            </a:pPr>
            <a:r>
              <a:t>•  LLMs: Ollama locally, Groq/Claude in cloud, Council for hard questions</a:t>
            </a:r>
          </a:p>
          <a:p>
            <a:pPr>
              <a:spcBef>
                <a:spcPts val="500"/>
              </a:spcBef>
              <a:spcAft>
                <a:spcPts val="200"/>
              </a:spcAft>
              <a:defRPr sz="1400">
                <a:solidFill>
                  <a:srgbClr val="334155"/>
                </a:solidFill>
                <a:latin typeface="Segoe UI"/>
              </a:defRPr>
            </a:pPr>
            <a:r>
              <a:t>•  Tools reach the host: browser, desktop apps, terminal, ICT analysis</a:t>
            </a:r>
          </a:p>
          <a:p>
            <a:pPr>
              <a:spcBef>
                <a:spcPts val="500"/>
              </a:spcBef>
              <a:spcAft>
                <a:spcPts val="200"/>
              </a:spcAft>
              <a:defRPr sz="1400">
                <a:solidFill>
                  <a:srgbClr val="334155"/>
                </a:solidFill>
                <a:latin typeface="Segoe UI"/>
              </a:defRPr>
            </a:pPr>
            <a:r>
              <a:t>•  SQLite stores Cortex memories; Chroma finds relevant past facts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537960"/>
            <a:ext cx="411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Segoe U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91440"/>
            <a:ext cx="113385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0A2540"/>
                </a:solidFill>
                <a:latin typeface="Segoe UI"/>
              </a:defRPr>
            </a:pPr>
            <a:r>
              <a:t>Governor — model rung selection from difficulty, device state, and feasibility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457200"/>
            <a:ext cx="11338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Utility = quality − λ·energy − μ·latency  ·  LinUCB adapts per device</a:t>
            </a:r>
          </a:p>
        </p:txBody>
      </p:sp>
      <p:pic>
        <p:nvPicPr>
          <p:cNvPr id="4" name="Picture 3" descr="slid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5985" y="950976"/>
            <a:ext cx="6460948" cy="360273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47472" y="4663440"/>
            <a:ext cx="11475720" cy="2048256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84632" y="4754879"/>
            <a:ext cx="5532120" cy="1911096"/>
          </a:xfrm>
          <a:prstGeom prst="rect">
            <a:avLst/>
          </a:prstGeom>
          <a:noFill/>
        </p:spPr>
        <p:txBody>
          <a:bodyPr wrap="square" lIns="101600" rIns="101600" tIns="50800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  <a:defRPr sz="1500" b="1">
                <a:solidFill>
                  <a:srgbClr val="0A2540"/>
                </a:solidFill>
                <a:latin typeface="Segoe UI Semibold"/>
              </a:defRPr>
            </a:pPr>
            <a:r>
              <a:t>What the Governor looks at</a:t>
            </a:r>
          </a:p>
          <a:p>
            <a:pPr>
              <a:spcBef>
                <a:spcPts val="500"/>
              </a:spcBef>
              <a:spcAft>
                <a:spcPts val="200"/>
              </a:spcAft>
              <a:defRPr sz="1400">
                <a:solidFill>
                  <a:srgbClr val="334155"/>
                </a:solidFill>
                <a:latin typeface="Segoe UI"/>
              </a:defRPr>
            </a:pPr>
            <a:r>
              <a:t>•  Prompt difficulty — is it code, tools, or multi-step?</a:t>
            </a:r>
          </a:p>
          <a:p>
            <a:pPr>
              <a:spcBef>
                <a:spcPts val="500"/>
              </a:spcBef>
              <a:spcAft>
                <a:spcPts val="200"/>
              </a:spcAft>
              <a:defRPr sz="1400">
                <a:solidFill>
                  <a:srgbClr val="334155"/>
                </a:solidFill>
                <a:latin typeface="Segoe UI"/>
              </a:defRPr>
            </a:pPr>
            <a:r>
              <a:t>•  Device state — battery, temperature, RAM, eco/local/cloud mode</a:t>
            </a:r>
          </a:p>
          <a:p>
            <a:pPr>
              <a:spcBef>
                <a:spcPts val="500"/>
              </a:spcBef>
              <a:spcAft>
                <a:spcPts val="200"/>
              </a:spcAft>
              <a:defRPr sz="1400">
                <a:solidFill>
                  <a:srgbClr val="334155"/>
                </a:solidFill>
                <a:latin typeface="Segoe UI"/>
              </a:defRPr>
            </a:pPr>
            <a:r>
              <a:t>•  Feasibility — which providers and keys are actually available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53912" y="4754879"/>
            <a:ext cx="5532120" cy="1911096"/>
          </a:xfrm>
          <a:prstGeom prst="rect">
            <a:avLst/>
          </a:prstGeom>
          <a:noFill/>
        </p:spPr>
        <p:txBody>
          <a:bodyPr wrap="square" lIns="101600" rIns="101600" tIns="50800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  <a:defRPr sz="1500" b="1">
                <a:solidFill>
                  <a:srgbClr val="0A2540"/>
                </a:solidFill>
                <a:latin typeface="Segoe UI Semibold"/>
              </a:defRPr>
            </a:pPr>
            <a:r>
              <a:t>How it picks a model rung</a:t>
            </a:r>
          </a:p>
          <a:p>
            <a:pPr>
              <a:spcBef>
                <a:spcPts val="500"/>
              </a:spcBef>
              <a:spcAft>
                <a:spcPts val="200"/>
              </a:spcAft>
              <a:defRPr sz="1400">
                <a:solidFill>
                  <a:srgbClr val="334155"/>
                </a:solidFill>
                <a:latin typeface="Segoe UI"/>
              </a:defRPr>
            </a:pPr>
            <a:r>
              <a:t>•  Scores rungs: answer quality vs energy cost vs latency</a:t>
            </a:r>
          </a:p>
          <a:p>
            <a:pPr>
              <a:spcBef>
                <a:spcPts val="500"/>
              </a:spcBef>
              <a:spcAft>
                <a:spcPts val="200"/>
              </a:spcAft>
              <a:defRPr sz="1400">
                <a:solidFill>
                  <a:srgbClr val="334155"/>
                </a:solidFill>
                <a:latin typeface="Segoe UI"/>
              </a:defRPr>
            </a:pPr>
            <a:r>
              <a:t>•  Raises energy penalty when on battery or under thermal stress</a:t>
            </a:r>
          </a:p>
          <a:p>
            <a:pPr>
              <a:spcBef>
                <a:spcPts val="500"/>
              </a:spcBef>
              <a:spcAft>
                <a:spcPts val="200"/>
              </a:spcAft>
              <a:defRPr sz="1400">
                <a:solidFill>
                  <a:srgbClr val="334155"/>
                </a:solidFill>
                <a:latin typeface="Segoe UI"/>
              </a:defRPr>
            </a:pPr>
            <a:r>
              <a:t>•  Sends tool requests only to models that can call tools</a:t>
            </a:r>
          </a:p>
          <a:p>
            <a:pPr>
              <a:spcBef>
                <a:spcPts val="500"/>
              </a:spcBef>
              <a:spcAft>
                <a:spcPts val="200"/>
              </a:spcAft>
              <a:defRPr sz="1400">
                <a:solidFill>
                  <a:srgbClr val="334155"/>
                </a:solidFill>
                <a:latin typeface="Segoe UI"/>
              </a:defRPr>
            </a:pPr>
            <a:r>
              <a:t>•  Council is for deliberation — not the normal tool path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537960"/>
            <a:ext cx="411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Segoe U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91440"/>
            <a:ext cx="113385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0A2540"/>
                </a:solidFill>
                <a:latin typeface="Segoe UI"/>
              </a:defRPr>
            </a:pPr>
            <a:r>
              <a:t>End-to-End User Turn — text and voice merge into one request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457200"/>
            <a:ext cx="11338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Voice is an I/O path into the same pipeline, not a parallel architecture</a:t>
            </a:r>
          </a:p>
        </p:txBody>
      </p:sp>
      <p:pic>
        <p:nvPicPr>
          <p:cNvPr id="4" name="Picture 3" descr="slid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5985" y="950976"/>
            <a:ext cx="6460948" cy="360273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47472" y="4663440"/>
            <a:ext cx="11475720" cy="2048256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84632" y="4754879"/>
            <a:ext cx="5532120" cy="1911096"/>
          </a:xfrm>
          <a:prstGeom prst="rect">
            <a:avLst/>
          </a:prstGeom>
          <a:noFill/>
        </p:spPr>
        <p:txBody>
          <a:bodyPr wrap="square" lIns="101600" rIns="101600" tIns="50800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  <a:defRPr sz="1500" b="1">
                <a:solidFill>
                  <a:srgbClr val="0A2540"/>
                </a:solidFill>
                <a:latin typeface="Segoe UI Semibold"/>
              </a:defRPr>
            </a:pPr>
            <a:r>
              <a:t>How a request enters the system</a:t>
            </a:r>
          </a:p>
          <a:p>
            <a:pPr>
              <a:spcBef>
                <a:spcPts val="500"/>
              </a:spcBef>
              <a:spcAft>
                <a:spcPts val="200"/>
              </a:spcAft>
              <a:defRPr sz="1400">
                <a:solidFill>
                  <a:srgbClr val="334155"/>
                </a:solidFill>
                <a:latin typeface="Segoe UI"/>
              </a:defRPr>
            </a:pPr>
            <a:r>
              <a:t>•  Text chat and voice both become one user message</a:t>
            </a:r>
          </a:p>
          <a:p>
            <a:pPr>
              <a:spcBef>
                <a:spcPts val="500"/>
              </a:spcBef>
              <a:spcAft>
                <a:spcPts val="200"/>
              </a:spcAft>
              <a:defRPr sz="1400">
                <a:solidFill>
                  <a:srgbClr val="334155"/>
                </a:solidFill>
                <a:latin typeface="Segoe UI"/>
              </a:defRPr>
            </a:pPr>
            <a:r>
              <a:t>•  Voice: VAD detects speech, Whisper transcribes (Groq if local fails)</a:t>
            </a:r>
          </a:p>
          <a:p>
            <a:pPr>
              <a:spcBef>
                <a:spcPts val="500"/>
              </a:spcBef>
              <a:spcAft>
                <a:spcPts val="200"/>
              </a:spcAft>
              <a:defRPr sz="1400">
                <a:solidFill>
                  <a:srgbClr val="334155"/>
                </a:solidFill>
                <a:latin typeface="Segoe UI"/>
              </a:defRPr>
            </a:pPr>
            <a:r>
              <a:t>•  Context built from persona, memories, history, and skills catalog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53912" y="4754879"/>
            <a:ext cx="5532120" cy="1911096"/>
          </a:xfrm>
          <a:prstGeom prst="rect">
            <a:avLst/>
          </a:prstGeom>
          <a:noFill/>
        </p:spPr>
        <p:txBody>
          <a:bodyPr wrap="square" lIns="101600" rIns="101600" tIns="50800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  <a:defRPr sz="1500" b="1">
                <a:solidFill>
                  <a:srgbClr val="0A2540"/>
                </a:solidFill>
                <a:latin typeface="Segoe UI Semibold"/>
              </a:defRPr>
            </a:pPr>
            <a:r>
              <a:t>What happens during the turn</a:t>
            </a:r>
          </a:p>
          <a:p>
            <a:pPr>
              <a:spcBef>
                <a:spcPts val="500"/>
              </a:spcBef>
              <a:spcAft>
                <a:spcPts val="200"/>
              </a:spcAft>
              <a:defRPr sz="1400">
                <a:solidFill>
                  <a:srgbClr val="334155"/>
                </a:solidFill>
                <a:latin typeface="Segoe UI"/>
              </a:defRPr>
            </a:pPr>
            <a:r>
              <a:t>•  Governor picks model → model answers → may call tools in a loop</a:t>
            </a:r>
          </a:p>
          <a:p>
            <a:pPr>
              <a:spcBef>
                <a:spcPts val="500"/>
              </a:spcBef>
              <a:spcAft>
                <a:spcPts val="200"/>
              </a:spcAft>
              <a:defRPr sz="1400">
                <a:solidFill>
                  <a:srgbClr val="334155"/>
                </a:solidFill>
                <a:latin typeface="Segoe UI"/>
              </a:defRPr>
            </a:pPr>
            <a:r>
              <a:t>•  Policy must approve before any risky host action runs</a:t>
            </a:r>
          </a:p>
          <a:p>
            <a:pPr>
              <a:spcBef>
                <a:spcPts val="500"/>
              </a:spcBef>
              <a:spcAft>
                <a:spcPts val="200"/>
              </a:spcAft>
              <a:defRPr sz="1400">
                <a:solidFill>
                  <a:srgbClr val="334155"/>
                </a:solidFill>
                <a:latin typeface="Segoe UI"/>
              </a:defRPr>
            </a:pPr>
            <a:r>
              <a:t>•  Response streams to UI and Edge TTS; turn saved to memory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537960"/>
            <a:ext cx="411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Segoe UI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91440"/>
            <a:ext cx="113385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0A2540"/>
                </a:solidFill>
                <a:latin typeface="Segoe UI"/>
              </a:defRPr>
            </a:pPr>
            <a:r>
              <a:t>Memory, Skills, Tools &amp; Policy — how subsystems support a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457200"/>
            <a:ext cx="11338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Policy gates every host action before execution</a:t>
            </a:r>
          </a:p>
        </p:txBody>
      </p:sp>
      <p:pic>
        <p:nvPicPr>
          <p:cNvPr id="4" name="Picture 3" descr="slid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5985" y="950976"/>
            <a:ext cx="6460948" cy="360273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47472" y="4663440"/>
            <a:ext cx="11475720" cy="2048256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84632" y="4754879"/>
            <a:ext cx="5532120" cy="1911096"/>
          </a:xfrm>
          <a:prstGeom prst="rect">
            <a:avLst/>
          </a:prstGeom>
          <a:noFill/>
        </p:spPr>
        <p:txBody>
          <a:bodyPr wrap="square" lIns="101600" rIns="101600" tIns="50800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  <a:defRPr sz="1500" b="1">
                <a:solidFill>
                  <a:srgbClr val="0A2540"/>
                </a:solidFill>
                <a:latin typeface="Segoe UI Semibold"/>
              </a:defRPr>
            </a:pPr>
            <a:r>
              <a:t>Memory — what the model remembers</a:t>
            </a:r>
          </a:p>
          <a:p>
            <a:pPr>
              <a:spcBef>
                <a:spcPts val="500"/>
              </a:spcBef>
              <a:spcAft>
                <a:spcPts val="200"/>
              </a:spcAft>
              <a:defRPr sz="1400">
                <a:solidFill>
                  <a:srgbClr val="334155"/>
                </a:solidFill>
                <a:latin typeface="Segoe UI"/>
              </a:defRPr>
            </a:pPr>
            <a:r>
              <a:t>•  DialogueStore: recent conversation window (short-term)</a:t>
            </a:r>
          </a:p>
          <a:p>
            <a:pPr>
              <a:spcBef>
                <a:spcPts val="500"/>
              </a:spcBef>
              <a:spcAft>
                <a:spcPts val="200"/>
              </a:spcAft>
              <a:defRPr sz="1400">
                <a:solidFill>
                  <a:srgbClr val="334155"/>
                </a:solidFill>
                <a:latin typeface="Segoe UI"/>
              </a:defRPr>
            </a:pPr>
            <a:r>
              <a:t>•  Cortex: long-term facts, episodes, and searchable memories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53912" y="4754879"/>
            <a:ext cx="5532120" cy="1911096"/>
          </a:xfrm>
          <a:prstGeom prst="rect">
            <a:avLst/>
          </a:prstGeom>
          <a:noFill/>
        </p:spPr>
        <p:txBody>
          <a:bodyPr wrap="square" lIns="101600" rIns="101600" tIns="50800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  <a:defRPr sz="1500" b="1">
                <a:solidFill>
                  <a:srgbClr val="0A2540"/>
                </a:solidFill>
                <a:latin typeface="Segoe UI Semibold"/>
              </a:defRPr>
            </a:pPr>
            <a:r>
              <a:t>Skills, tools, and policy</a:t>
            </a:r>
          </a:p>
          <a:p>
            <a:pPr>
              <a:spcBef>
                <a:spcPts val="500"/>
              </a:spcBef>
              <a:spcAft>
                <a:spcPts val="200"/>
              </a:spcAft>
              <a:defRPr sz="1400">
                <a:solidFill>
                  <a:srgbClr val="334155"/>
                </a:solidFill>
                <a:latin typeface="Segoe UI"/>
              </a:defRPr>
            </a:pPr>
            <a:r>
              <a:t>•  Skills: reusable procedures loaded from SKILL.md files</a:t>
            </a:r>
          </a:p>
          <a:p>
            <a:pPr>
              <a:spcBef>
                <a:spcPts val="500"/>
              </a:spcBef>
              <a:spcAft>
                <a:spcPts val="200"/>
              </a:spcAft>
              <a:defRPr sz="1400">
                <a:solidFill>
                  <a:srgbClr val="334155"/>
                </a:solidFill>
                <a:latin typeface="Segoe UI"/>
              </a:defRPr>
            </a:pPr>
            <a:r>
              <a:t>•  Tools: let the model act on browser, desktop, and shell</a:t>
            </a:r>
          </a:p>
          <a:p>
            <a:pPr>
              <a:spcBef>
                <a:spcPts val="500"/>
              </a:spcBef>
              <a:spcAft>
                <a:spcPts val="200"/>
              </a:spcAft>
              <a:defRPr sz="1400">
                <a:solidFill>
                  <a:srgbClr val="334155"/>
                </a:solidFill>
                <a:latin typeface="Segoe UI"/>
              </a:defRPr>
            </a:pPr>
            <a:r>
              <a:t>•  Policy gate: every tool call checked before execution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537960"/>
            <a:ext cx="411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Segoe UI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